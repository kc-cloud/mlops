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8D7"/>
                </a:solidFill>
              </a:defRPr>
            </a:pPr>
            <a:r>
              <a:rPr dirty="0"/>
              <a:t>S</a:t>
            </a:r>
            <a:r>
              <a:rPr lang="en-US" dirty="0"/>
              <a:t>ecure ML Ops Pipeline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Secure </a:t>
            </a:r>
            <a:r>
              <a:rPr dirty="0" err="1"/>
              <a:t>MLOps</a:t>
            </a:r>
            <a:r>
              <a:rPr dirty="0"/>
              <a:t> Pipeline for LLM Fine-Tuning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B5E1CB3-7FC8-CE41-CA8F-881B90D7A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249" y="159740"/>
            <a:ext cx="4516955" cy="608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43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 Security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22343"/>
            <a:ext cx="9144000" cy="536101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/>
            <a:endParaRPr dirty="0"/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1: Model Acquisition Security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Secure model downloads and integrity verification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2: Container Security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Vulnerability scanning and hardened containers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3: Training Security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VPC isolation, encryption, and access controls</a:t>
            </a:r>
            <a:endParaRPr lang="en-US" dirty="0"/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4: Data Security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Encryption at rest, access logging, and retention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5: Model Governance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Quality gates, versioning, and approval workflows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8D7"/>
                </a:solidFill>
              </a:defRPr>
            </a:pPr>
            <a:r>
              <a:rPr dirty="0"/>
              <a:t>Layer 6: Deployment Security</a:t>
            </a:r>
          </a:p>
          <a:p>
            <a:pPr algn="ctr">
              <a:spcAft>
                <a:spcPts val="1800"/>
              </a:spcAft>
              <a:defRPr sz="1600"/>
            </a:pPr>
            <a:r>
              <a:rPr dirty="0"/>
              <a:t>   Secure endpoints, monitoring, and rate limiting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1: Model Acquisition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Malicious model injection, supply chain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Token-based authentication via AWS Secrets Manager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Model integrity verification (checksums)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Audit logging to CloudWatch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No trust of remote code execution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Secure download over HTTPS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498" y="4946005"/>
            <a:ext cx="8702211" cy="14465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Secure token retrieval from Secrets Manager</a:t>
            </a:r>
            <a:br>
              <a:rPr dirty="0">
                <a:solidFill>
                  <a:srgbClr val="00B050"/>
                </a:solidFill>
              </a:rPr>
            </a:br>
            <a:r>
              <a:rPr dirty="0" err="1">
                <a:solidFill>
                  <a:srgbClr val="00B050"/>
                </a:solidFill>
              </a:rPr>
              <a:t>secrets_client</a:t>
            </a:r>
            <a:r>
              <a:rPr dirty="0">
                <a:solidFill>
                  <a:srgbClr val="00B050"/>
                </a:solidFill>
              </a:rPr>
              <a:t> = boto3.client('</a:t>
            </a:r>
            <a:r>
              <a:rPr dirty="0" err="1">
                <a:solidFill>
                  <a:srgbClr val="00B050"/>
                </a:solidFill>
              </a:rPr>
              <a:t>secretsmanager</a:t>
            </a:r>
            <a:r>
              <a:rPr dirty="0">
                <a:solidFill>
                  <a:srgbClr val="00B050"/>
                </a:solidFill>
              </a:rPr>
              <a:t>')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response = </a:t>
            </a:r>
            <a:r>
              <a:rPr dirty="0" err="1">
                <a:solidFill>
                  <a:srgbClr val="00B050"/>
                </a:solidFill>
              </a:rPr>
              <a:t>secrets_client.get_secret_value</a:t>
            </a:r>
            <a:r>
              <a:rPr dirty="0">
                <a:solidFill>
                  <a:srgbClr val="00B050"/>
                </a:solidFill>
              </a:rPr>
              <a:t>(</a:t>
            </a:r>
            <a:r>
              <a:rPr dirty="0" err="1">
                <a:solidFill>
                  <a:srgbClr val="00B050"/>
                </a:solidFill>
              </a:rPr>
              <a:t>SecretId</a:t>
            </a:r>
            <a:r>
              <a:rPr dirty="0">
                <a:solidFill>
                  <a:srgbClr val="00B050"/>
                </a:solidFill>
              </a:rPr>
              <a:t>='</a:t>
            </a:r>
            <a:r>
              <a:rPr dirty="0" err="1">
                <a:solidFill>
                  <a:srgbClr val="00B050"/>
                </a:solidFill>
              </a:rPr>
              <a:t>huggingface</a:t>
            </a:r>
            <a:r>
              <a:rPr dirty="0">
                <a:solidFill>
                  <a:srgbClr val="00B050"/>
                </a:solidFill>
              </a:rPr>
              <a:t>/</a:t>
            </a:r>
            <a:r>
              <a:rPr dirty="0" err="1">
                <a:solidFill>
                  <a:srgbClr val="00B050"/>
                </a:solidFill>
              </a:rPr>
              <a:t>api</a:t>
            </a:r>
            <a:r>
              <a:rPr dirty="0">
                <a:solidFill>
                  <a:srgbClr val="00B050"/>
                </a:solidFill>
              </a:rPr>
              <a:t>-token')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token = response['</a:t>
            </a:r>
            <a:r>
              <a:rPr dirty="0" err="1">
                <a:solidFill>
                  <a:srgbClr val="00B050"/>
                </a:solidFill>
              </a:rPr>
              <a:t>SecretString</a:t>
            </a:r>
            <a:r>
              <a:rPr dirty="0">
                <a:solidFill>
                  <a:srgbClr val="00B050"/>
                </a:solidFill>
              </a:rPr>
              <a:t>']</a:t>
            </a:r>
            <a:br>
              <a:rPr dirty="0">
                <a:solidFill>
                  <a:srgbClr val="00B050"/>
                </a:solidFill>
              </a:rPr>
            </a:b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# Download with verification</a:t>
            </a:r>
            <a:br>
              <a:rPr dirty="0">
                <a:solidFill>
                  <a:srgbClr val="00B050"/>
                </a:solidFill>
              </a:rPr>
            </a:br>
            <a:r>
              <a:rPr dirty="0" err="1">
                <a:solidFill>
                  <a:srgbClr val="00B050"/>
                </a:solidFill>
              </a:rPr>
              <a:t>model_path</a:t>
            </a:r>
            <a:r>
              <a:rPr dirty="0">
                <a:solidFill>
                  <a:srgbClr val="00B050"/>
                </a:solidFill>
              </a:rPr>
              <a:t> = </a:t>
            </a:r>
            <a:r>
              <a:rPr dirty="0" err="1">
                <a:solidFill>
                  <a:srgbClr val="00B050"/>
                </a:solidFill>
              </a:rPr>
              <a:t>snapshot_download</a:t>
            </a:r>
            <a:r>
              <a:rPr dirty="0">
                <a:solidFill>
                  <a:srgbClr val="00B050"/>
                </a:solidFill>
              </a:rPr>
              <a:t>(</a:t>
            </a:r>
            <a:r>
              <a:rPr dirty="0" err="1">
                <a:solidFill>
                  <a:srgbClr val="00B050"/>
                </a:solidFill>
              </a:rPr>
              <a:t>repo_id</a:t>
            </a:r>
            <a:r>
              <a:rPr dirty="0">
                <a:solidFill>
                  <a:srgbClr val="00B050"/>
                </a:solidFill>
              </a:rPr>
              <a:t>=</a:t>
            </a:r>
            <a:r>
              <a:rPr dirty="0" err="1">
                <a:solidFill>
                  <a:srgbClr val="00B050"/>
                </a:solidFill>
              </a:rPr>
              <a:t>model_id</a:t>
            </a:r>
            <a:r>
              <a:rPr dirty="0">
                <a:solidFill>
                  <a:srgbClr val="00B050"/>
                </a:solidFill>
              </a:rPr>
              <a:t>, token=token,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                            </a:t>
            </a:r>
            <a:r>
              <a:rPr dirty="0" err="1">
                <a:solidFill>
                  <a:srgbClr val="00B050"/>
                </a:solidFill>
              </a:rPr>
              <a:t>local_dir_use_symlinks</a:t>
            </a:r>
            <a:r>
              <a:rPr dirty="0">
                <a:solidFill>
                  <a:srgbClr val="00B050"/>
                </a:solidFill>
              </a:rPr>
              <a:t>=False)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2: Container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Vulnerable dependencies, container escape, supply chain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AWS ECR with vulnerability scanning (</a:t>
            </a:r>
            <a:r>
              <a:rPr lang="en-US" dirty="0"/>
              <a:t>Prisma Compute Remote Registry scan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Immutable image tags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KMS encryption at rest</a:t>
            </a:r>
          </a:p>
          <a:p>
            <a:pPr>
              <a:spcAft>
                <a:spcPts val="800"/>
              </a:spcAft>
              <a:defRPr sz="1600"/>
            </a:pPr>
            <a:r>
              <a:rPr lang="en-US" dirty="0"/>
              <a:t>✅ Non-root container execution (Prisma Compute)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Minimal attack surface (slim base image)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Regular automated scanning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✅ Image signing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822960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</a:t>
            </a:r>
            <a:r>
              <a:rPr dirty="0" err="1">
                <a:solidFill>
                  <a:srgbClr val="00B050"/>
                </a:solidFill>
              </a:rPr>
              <a:t>Dockerfile</a:t>
            </a:r>
            <a:r>
              <a:rPr dirty="0">
                <a:solidFill>
                  <a:srgbClr val="00B050"/>
                </a:solidFill>
              </a:rPr>
              <a:t> Hardening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FROM 763104351884.dkr.ecr.us-east-1.amazonaws.com/pytorch-training:2.1.0-gpu-py310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RUN </a:t>
            </a:r>
            <a:r>
              <a:rPr dirty="0" err="1">
                <a:solidFill>
                  <a:srgbClr val="00B050"/>
                </a:solidFill>
              </a:rPr>
              <a:t>groupadd</a:t>
            </a:r>
            <a:r>
              <a:rPr dirty="0">
                <a:solidFill>
                  <a:srgbClr val="00B050"/>
                </a:solidFill>
              </a:rPr>
              <a:t> -g 1000 </a:t>
            </a:r>
            <a:r>
              <a:rPr dirty="0" err="1">
                <a:solidFill>
                  <a:srgbClr val="00B050"/>
                </a:solidFill>
              </a:rPr>
              <a:t>mlopsuser</a:t>
            </a:r>
            <a:r>
              <a:rPr dirty="0">
                <a:solidFill>
                  <a:srgbClr val="00B050"/>
                </a:solidFill>
              </a:rPr>
              <a:t> &amp;&amp; </a:t>
            </a:r>
            <a:r>
              <a:rPr dirty="0" err="1">
                <a:solidFill>
                  <a:srgbClr val="00B050"/>
                </a:solidFill>
              </a:rPr>
              <a:t>useradd</a:t>
            </a:r>
            <a:r>
              <a:rPr dirty="0">
                <a:solidFill>
                  <a:srgbClr val="00B050"/>
                </a:solidFill>
              </a:rPr>
              <a:t> -m -u 1000 -g </a:t>
            </a:r>
            <a:r>
              <a:rPr dirty="0" err="1">
                <a:solidFill>
                  <a:srgbClr val="00B050"/>
                </a:solidFill>
              </a:rPr>
              <a:t>mlopsuser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mlopsuser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USER </a:t>
            </a:r>
            <a:r>
              <a:rPr dirty="0" err="1">
                <a:solidFill>
                  <a:srgbClr val="00B050"/>
                </a:solidFill>
              </a:rPr>
              <a:t>mlopsuser</a:t>
            </a:r>
            <a:r>
              <a:rPr dirty="0">
                <a:solidFill>
                  <a:srgbClr val="00B050"/>
                </a:solidFill>
              </a:rPr>
              <a:t>  # Run as non-root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3: Training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Data exfiltration, unauthorized access, model poisoning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VPC isolation (optional)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Private subnets with no internet access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VPC endpoints for AWS services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Encrypted inter-container traffic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KMS encryption for training data, model artifacts, EBS volumes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IAM least-privilege roles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Network isolation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281" y="5264478"/>
            <a:ext cx="8229600" cy="10972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Security Configuration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security: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encryption: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s3_kms_key_id: "alias/</a:t>
            </a:r>
            <a:r>
              <a:rPr dirty="0" err="1">
                <a:solidFill>
                  <a:srgbClr val="00B050"/>
                </a:solidFill>
              </a:rPr>
              <a:t>sagemaker</a:t>
            </a:r>
            <a:r>
              <a:rPr dirty="0">
                <a:solidFill>
                  <a:srgbClr val="00B050"/>
                </a:solidFill>
              </a:rPr>
              <a:t>-kms-key"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</a:t>
            </a:r>
            <a:r>
              <a:rPr dirty="0" err="1">
                <a:solidFill>
                  <a:srgbClr val="00B050"/>
                </a:solidFill>
              </a:rPr>
              <a:t>volume_kms_key_id</a:t>
            </a:r>
            <a:r>
              <a:rPr dirty="0">
                <a:solidFill>
                  <a:srgbClr val="00B050"/>
                </a:solidFill>
              </a:rPr>
              <a:t>: "alias/</a:t>
            </a:r>
            <a:r>
              <a:rPr dirty="0" err="1">
                <a:solidFill>
                  <a:srgbClr val="00B050"/>
                </a:solidFill>
              </a:rPr>
              <a:t>sagemaker</a:t>
            </a:r>
            <a:r>
              <a:rPr dirty="0">
                <a:solidFill>
                  <a:srgbClr val="00B050"/>
                </a:solidFill>
              </a:rPr>
              <a:t>-volume-kms-key"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</a:t>
            </a:r>
            <a:r>
              <a:rPr dirty="0" err="1">
                <a:solidFill>
                  <a:srgbClr val="00B050"/>
                </a:solidFill>
              </a:rPr>
              <a:t>enable_network_isolation</a:t>
            </a:r>
            <a:r>
              <a:rPr dirty="0">
                <a:solidFill>
                  <a:srgbClr val="00B050"/>
                </a:solidFill>
              </a:rPr>
              <a:t>: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4: Data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Data breach, unauthorized access, compliance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S3 bucket encryption (KMS)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Bucket versioning enabled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Public access blocked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Lifecycle policies for data retention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Access logging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MFA delete protection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Cross-region replication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007" y="5274435"/>
            <a:ext cx="8229600" cy="12772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S3 Security Settings</a:t>
            </a:r>
            <a:br>
              <a:rPr dirty="0">
                <a:solidFill>
                  <a:srgbClr val="00B050"/>
                </a:solidFill>
              </a:rPr>
            </a:br>
            <a:r>
              <a:rPr dirty="0" err="1">
                <a:solidFill>
                  <a:srgbClr val="00B050"/>
                </a:solidFill>
              </a:rPr>
              <a:t>bucket_encryption</a:t>
            </a:r>
            <a:r>
              <a:rPr dirty="0">
                <a:solidFill>
                  <a:srgbClr val="00B050"/>
                </a:solidFill>
              </a:rPr>
              <a:t>: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- </a:t>
            </a:r>
            <a:r>
              <a:rPr dirty="0" err="1">
                <a:solidFill>
                  <a:srgbClr val="00B050"/>
                </a:solidFill>
              </a:rPr>
              <a:t>SSEAlgorithm</a:t>
            </a:r>
            <a:r>
              <a:rPr dirty="0">
                <a:solidFill>
                  <a:srgbClr val="00B050"/>
                </a:solidFill>
              </a:rPr>
              <a:t>: '</a:t>
            </a:r>
            <a:r>
              <a:rPr dirty="0" err="1">
                <a:solidFill>
                  <a:srgbClr val="00B050"/>
                </a:solidFill>
              </a:rPr>
              <a:t>aws:kms</a:t>
            </a:r>
            <a:r>
              <a:rPr dirty="0">
                <a:solidFill>
                  <a:srgbClr val="00B050"/>
                </a:solidFill>
              </a:rPr>
              <a:t>'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</a:t>
            </a:r>
            <a:r>
              <a:rPr dirty="0" err="1">
                <a:solidFill>
                  <a:srgbClr val="00B050"/>
                </a:solidFill>
              </a:rPr>
              <a:t>KMSMasterKeyID</a:t>
            </a:r>
            <a:r>
              <a:rPr dirty="0">
                <a:solidFill>
                  <a:srgbClr val="00B050"/>
                </a:solidFill>
              </a:rPr>
              <a:t>: !</a:t>
            </a:r>
            <a:r>
              <a:rPr dirty="0" err="1">
                <a:solidFill>
                  <a:srgbClr val="00B050"/>
                </a:solidFill>
              </a:rPr>
              <a:t>GetAtt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MLOpsKMSKey.Arn</a:t>
            </a:r>
            <a:br>
              <a:rPr dirty="0">
                <a:solidFill>
                  <a:srgbClr val="00B050"/>
                </a:solidFill>
              </a:rPr>
            </a:br>
            <a:r>
              <a:rPr dirty="0" err="1">
                <a:solidFill>
                  <a:srgbClr val="00B050"/>
                </a:solidFill>
              </a:rPr>
              <a:t>public_access_block</a:t>
            </a:r>
            <a:r>
              <a:rPr dirty="0">
                <a:solidFill>
                  <a:srgbClr val="00B050"/>
                </a:solidFill>
              </a:rPr>
              <a:t>: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</a:t>
            </a:r>
            <a:r>
              <a:rPr dirty="0" err="1">
                <a:solidFill>
                  <a:srgbClr val="00B050"/>
                </a:solidFill>
              </a:rPr>
              <a:t>BlockPublicAcls</a:t>
            </a:r>
            <a:r>
              <a:rPr dirty="0">
                <a:solidFill>
                  <a:srgbClr val="00B050"/>
                </a:solidFill>
              </a:rPr>
              <a:t>: true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</a:t>
            </a:r>
            <a:r>
              <a:rPr dirty="0" err="1">
                <a:solidFill>
                  <a:srgbClr val="00B050"/>
                </a:solidFill>
              </a:rPr>
              <a:t>RestrictPublicBuckets</a:t>
            </a:r>
            <a:r>
              <a:rPr dirty="0">
                <a:solidFill>
                  <a:srgbClr val="00B050"/>
                </a:solidFill>
              </a:rPr>
              <a:t>: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5486082"/>
            <a:ext cx="8229600" cy="1097280"/>
          </a:xfrm>
          <a:prstGeom prst="rect">
            <a:avLst/>
          </a:prstGeom>
          <a:solidFill>
            <a:srgbClr val="28282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5: Model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Unauthorized model deployment, model drift, compliance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Automated performance threshold validation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Model versioning in </a:t>
            </a:r>
            <a:r>
              <a:rPr dirty="0" err="1"/>
              <a:t>SageMaker</a:t>
            </a:r>
            <a:r>
              <a:rPr dirty="0"/>
              <a:t> Registry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Approval workflow (manual/automated)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Model lineage tracking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Experiment tracking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6089"/>
            <a:ext cx="8229600" cy="12772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Quality Gates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thresholds = {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'</a:t>
            </a:r>
            <a:r>
              <a:rPr dirty="0" err="1">
                <a:solidFill>
                  <a:srgbClr val="00B050"/>
                </a:solidFill>
              </a:rPr>
              <a:t>perplexity_max</a:t>
            </a:r>
            <a:r>
              <a:rPr dirty="0">
                <a:solidFill>
                  <a:srgbClr val="00B050"/>
                </a:solidFill>
              </a:rPr>
              <a:t>': 20.0,    # Industry best practice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'</a:t>
            </a:r>
            <a:r>
              <a:rPr dirty="0" err="1">
                <a:solidFill>
                  <a:srgbClr val="00B050"/>
                </a:solidFill>
              </a:rPr>
              <a:t>eval_loss_max</a:t>
            </a:r>
            <a:r>
              <a:rPr dirty="0">
                <a:solidFill>
                  <a:srgbClr val="00B050"/>
                </a:solidFill>
              </a:rPr>
              <a:t>': 1.5,       # Model quality threshold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}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if not </a:t>
            </a:r>
            <a:r>
              <a:rPr dirty="0" err="1">
                <a:solidFill>
                  <a:srgbClr val="00B050"/>
                </a:solidFill>
              </a:rPr>
              <a:t>check_thresholds</a:t>
            </a:r>
            <a:r>
              <a:rPr dirty="0">
                <a:solidFill>
                  <a:srgbClr val="00B050"/>
                </a:solidFill>
              </a:rPr>
              <a:t>(metrics, thresholds):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</a:t>
            </a:r>
            <a:r>
              <a:rPr dirty="0" err="1">
                <a:solidFill>
                  <a:srgbClr val="00B050"/>
                </a:solidFill>
              </a:rPr>
              <a:t>approval_status</a:t>
            </a:r>
            <a:r>
              <a:rPr dirty="0">
                <a:solidFill>
                  <a:srgbClr val="00B050"/>
                </a:solidFill>
              </a:rPr>
              <a:t> = 'Rejected'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t>Layer 6: Deployment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DC3232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 Threat: Unauthorized access, data leakage, model serving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00B400"/>
                </a:solidFill>
              </a:defRPr>
            </a:pPr>
            <a:r>
              <a:rPr dirty="0"/>
              <a:t>Controls Implemented: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VPC endpoint deployment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Data capture for monitoring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Auto-scaling with security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HTTPS-only endpoints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IAM-based access control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Request/response encryption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Rate limiting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✅ Model monitoring (drift, bias, quality)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474" y="5466878"/>
            <a:ext cx="8229600" cy="10972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rPr dirty="0">
                <a:solidFill>
                  <a:srgbClr val="00B050"/>
                </a:solidFill>
              </a:rPr>
              <a:t># Endpoint Security</a:t>
            </a:r>
            <a:br>
              <a:rPr dirty="0">
                <a:solidFill>
                  <a:srgbClr val="00B050"/>
                </a:solidFill>
              </a:rPr>
            </a:br>
            <a:r>
              <a:rPr dirty="0" err="1">
                <a:solidFill>
                  <a:srgbClr val="00B050"/>
                </a:solidFill>
              </a:rPr>
              <a:t>endpoint_config</a:t>
            </a:r>
            <a:r>
              <a:rPr dirty="0">
                <a:solidFill>
                  <a:srgbClr val="00B050"/>
                </a:solidFill>
              </a:rPr>
              <a:t> = {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'</a:t>
            </a:r>
            <a:r>
              <a:rPr dirty="0" err="1">
                <a:solidFill>
                  <a:srgbClr val="00B050"/>
                </a:solidFill>
              </a:rPr>
              <a:t>DataCaptureConfig</a:t>
            </a:r>
            <a:r>
              <a:rPr dirty="0">
                <a:solidFill>
                  <a:srgbClr val="00B050"/>
                </a:solidFill>
              </a:rPr>
              <a:t>': {'</a:t>
            </a:r>
            <a:r>
              <a:rPr dirty="0" err="1">
                <a:solidFill>
                  <a:srgbClr val="00B050"/>
                </a:solidFill>
              </a:rPr>
              <a:t>EnableCapture</a:t>
            </a:r>
            <a:r>
              <a:rPr dirty="0">
                <a:solidFill>
                  <a:srgbClr val="00B050"/>
                </a:solidFill>
              </a:rPr>
              <a:t>': True, '</a:t>
            </a:r>
            <a:r>
              <a:rPr dirty="0" err="1">
                <a:solidFill>
                  <a:srgbClr val="00B050"/>
                </a:solidFill>
              </a:rPr>
              <a:t>KmsKeyId</a:t>
            </a:r>
            <a:r>
              <a:rPr dirty="0">
                <a:solidFill>
                  <a:srgbClr val="00B050"/>
                </a:solidFill>
              </a:rPr>
              <a:t>': </a:t>
            </a:r>
            <a:r>
              <a:rPr dirty="0" err="1">
                <a:solidFill>
                  <a:srgbClr val="00B050"/>
                </a:solidFill>
              </a:rPr>
              <a:t>kms_key_id</a:t>
            </a:r>
            <a:r>
              <a:rPr dirty="0">
                <a:solidFill>
                  <a:srgbClr val="00B050"/>
                </a:solidFill>
              </a:rPr>
              <a:t>},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'</a:t>
            </a:r>
            <a:r>
              <a:rPr dirty="0" err="1">
                <a:solidFill>
                  <a:srgbClr val="00B050"/>
                </a:solidFill>
              </a:rPr>
              <a:t>KmsKeyId</a:t>
            </a:r>
            <a:r>
              <a:rPr dirty="0">
                <a:solidFill>
                  <a:srgbClr val="00B050"/>
                </a:solidFill>
              </a:rPr>
              <a:t>': </a:t>
            </a:r>
            <a:r>
              <a:rPr dirty="0" err="1">
                <a:solidFill>
                  <a:srgbClr val="00B050"/>
                </a:solidFill>
              </a:rPr>
              <a:t>kms_key_id</a:t>
            </a:r>
            <a:r>
              <a:rPr dirty="0">
                <a:solidFill>
                  <a:srgbClr val="00B050"/>
                </a:solidFill>
              </a:rPr>
              <a:t>,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    '</a:t>
            </a:r>
            <a:r>
              <a:rPr dirty="0" err="1">
                <a:solidFill>
                  <a:srgbClr val="00B050"/>
                </a:solidFill>
              </a:rPr>
              <a:t>EnableNetworkIsolation</a:t>
            </a:r>
            <a:r>
              <a:rPr dirty="0">
                <a:solidFill>
                  <a:srgbClr val="00B050"/>
                </a:solidFill>
              </a:rPr>
              <a:t>': True</a:t>
            </a:r>
            <a:br>
              <a:rPr dirty="0">
                <a:solidFill>
                  <a:srgbClr val="00B050"/>
                </a:solidFill>
              </a:rPr>
            </a:br>
            <a:r>
              <a:rPr dirty="0">
                <a:solidFill>
                  <a:srgbClr val="00B05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7"/>
                </a:solidFill>
              </a:defRPr>
            </a:pPr>
            <a:r>
              <a:rPr dirty="0"/>
              <a:t>Compliance &amp; Regulatory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0078D7"/>
          </a:solidFill>
          <a:ln>
            <a:solidFill>
              <a:srgbClr val="00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Encryption at rest and in transit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Access controls and audit logging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Change management workflows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Monitoring and alerting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solidFill>
            <a:srgbClr val="0078D7"/>
          </a:solidFill>
          <a:ln>
            <a:solidFill>
              <a:srgbClr val="00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HIPAA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BAA-eligible AWS services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Data encryption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Access logging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Network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0078D7"/>
          </a:solidFill>
          <a:ln>
            <a:solidFill>
              <a:srgbClr val="00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Data encryption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Data retention policies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Right to deletion</a:t>
            </a:r>
          </a:p>
          <a:p>
            <a:pPr>
              <a:spcAft>
                <a:spcPts val="1000"/>
              </a:spcAft>
              <a:defRPr sz="1200"/>
            </a:pPr>
            <a:r>
              <a:rPr dirty="0"/>
              <a:t>✅ Complete audit trail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12EB45-BBF9-22A3-FA10-8C1D4FF0A45A}"/>
              </a:ext>
            </a:extLst>
          </p:cNvPr>
          <p:cNvSpPr/>
          <p:nvPr/>
        </p:nvSpPr>
        <p:spPr>
          <a:xfrm>
            <a:off x="457200" y="3907604"/>
            <a:ext cx="2560320" cy="457200"/>
          </a:xfrm>
          <a:prstGeom prst="rect">
            <a:avLst/>
          </a:prstGeom>
          <a:solidFill>
            <a:srgbClr val="0078D7"/>
          </a:solidFill>
          <a:ln>
            <a:solidFill>
              <a:srgbClr val="00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/>
              <a:t>CIS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B8030-0109-1752-5A83-33B4E2BB7EF4}"/>
              </a:ext>
            </a:extLst>
          </p:cNvPr>
          <p:cNvSpPr txBox="1"/>
          <p:nvPr/>
        </p:nvSpPr>
        <p:spPr>
          <a:xfrm>
            <a:off x="457200" y="4364804"/>
            <a:ext cx="25603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</a:t>
            </a:r>
            <a:r>
              <a:rPr lang="en-US" dirty="0"/>
              <a:t>AWS Account Hardening</a:t>
            </a:r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</a:t>
            </a:r>
            <a:r>
              <a:rPr lang="en-US" dirty="0"/>
              <a:t>Kubernetes Node Hardening</a:t>
            </a:r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</a:t>
            </a:r>
            <a:r>
              <a:rPr lang="en-US" dirty="0"/>
              <a:t>IAM Hardening</a:t>
            </a:r>
            <a:endParaRPr dirty="0"/>
          </a:p>
          <a:p>
            <a:pPr>
              <a:spcAft>
                <a:spcPts val="1000"/>
              </a:spcAft>
              <a:defRPr sz="1200"/>
            </a:pPr>
            <a:r>
              <a:rPr dirty="0"/>
              <a:t>✅ </a:t>
            </a:r>
            <a:r>
              <a:rPr lang="en-US" dirty="0"/>
              <a:t>S3 Hardening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828</Words>
  <Application>Microsoft Macintosh PowerPoint</Application>
  <PresentationFormat>On-screen Show (4:3)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Secure ML Ops Pipeline</vt:lpstr>
      <vt:lpstr>PowerPoint Presentation</vt:lpstr>
      <vt:lpstr>6 Security Layers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ML Ops Pipeline</dc:title>
  <dc:subject/>
  <dc:creator/>
  <cp:keywords/>
  <dc:description>generated using python-pptx</dc:description>
  <cp:lastModifiedBy>Kannan Chithiraputhiran</cp:lastModifiedBy>
  <cp:revision>4</cp:revision>
  <dcterms:created xsi:type="dcterms:W3CDTF">2013-01-27T09:14:16Z</dcterms:created>
  <dcterms:modified xsi:type="dcterms:W3CDTF">2025-11-11T20:19:04Z</dcterms:modified>
  <cp:category/>
</cp:coreProperties>
</file>